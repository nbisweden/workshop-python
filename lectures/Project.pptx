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68" r:id="rId1"/>
  </p:sldMasterIdLst>
  <p:notesMasterIdLst>
    <p:notesMasterId r:id="rId17"/>
  </p:notes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3" r:id="rId14"/>
    <p:sldId id="282" r:id="rId15"/>
    <p:sldId id="284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578"/>
    <p:restoredTop sz="94762"/>
  </p:normalViewPr>
  <p:slideViewPr>
    <p:cSldViewPr snapToGrid="0" snapToObjects="1" showGuides="1">
      <p:cViewPr varScale="1">
        <p:scale>
          <a:sx n="76" d="100"/>
          <a:sy n="76" d="100"/>
        </p:scale>
        <p:origin x="232" y="14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A272F-59C1-4644-BCBC-A6C8D77499CA}" type="datetimeFigureOut">
              <a:rPr lang="en-SE" smtClean="0"/>
              <a:t>2026-10-16</a:t>
            </a:fld>
            <a:endParaRPr lang="en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8D2482-335E-734C-B42B-0D7FE334310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105749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The project is related to a disease called cystic fibrosis. </a:t>
            </a:r>
          </a:p>
          <a:p>
            <a:r>
              <a:rPr lang="en-SE" dirty="0"/>
              <a:t>For patients with cystic fibrosis their body produces </a:t>
            </a:r>
          </a:p>
          <a:p>
            <a:r>
              <a:rPr lang="en-SE" dirty="0"/>
              <a:t>CFTR modulators, for roughly 90% of patients, the medication can restore the protein function.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D2482-335E-734C-B42B-0D7FE3343100}" type="slidenum">
              <a:rPr lang="en-SE" smtClean="0"/>
              <a:t>3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948861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SE" dirty="0"/>
              <a:t>ytoplasmic part is larger (as shown in the picture, lower part is cytoplasmic, upper is extracellular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D2482-335E-734C-B42B-0D7FE3343100}" type="slidenum">
              <a:rPr lang="en-SE" smtClean="0"/>
              <a:t>4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595251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</a:t>
            </a:r>
            <a:r>
              <a:rPr lang="en-SE" dirty="0"/>
              <a:t>top codon: TAA, TAG or TGA</a:t>
            </a:r>
          </a:p>
          <a:p>
            <a:r>
              <a:rPr lang="en-SE" dirty="0"/>
              <a:t>Non-synonymous mutation, means the amino acid will be changed caused by mutation.</a:t>
            </a:r>
          </a:p>
          <a:p>
            <a:r>
              <a:rPr lang="en-SE" dirty="0"/>
              <a:t>While a synonymous mutation, or slient mutation which changes a DNA letter without changing the amio acid due to redundency in the genetic code</a:t>
            </a:r>
          </a:p>
          <a:p>
            <a:endParaRPr lang="en-SE" dirty="0"/>
          </a:p>
          <a:p>
            <a:r>
              <a:rPr lang="en-SE" dirty="0"/>
              <a:t>GC [A/U/C/G] -&gt; all 4 code for A (Alanine)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D2482-335E-734C-B42B-0D7FE3343100}" type="slidenum">
              <a:rPr lang="en-SE" smtClean="0"/>
              <a:t>5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206755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GTF: gene transfer format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D2482-335E-734C-B42B-0D7FE3343100}" type="slidenum">
              <a:rPr lang="en-SE" smtClean="0"/>
              <a:t>7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24299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The strand indicate the orientation and directional reading of a gene relative to the reference genome assembly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D2482-335E-734C-B42B-0D7FE3343100}" type="slidenum">
              <a:rPr lang="en-SE" smtClean="0"/>
              <a:t>10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907732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The frame “.” means not applicable, because one can not directly start translating DNA sequence of a gene to amino acid sequence, instead one need to find the position of the start codon first.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D2482-335E-734C-B42B-0D7FE3343100}" type="slidenum">
              <a:rPr lang="en-SE" smtClean="0"/>
              <a:t>12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24020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D2482-335E-734C-B42B-0D7FE3343100}" type="slidenum">
              <a:rPr lang="en-SE" smtClean="0"/>
              <a:t>14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919266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without our host unis" type="title">
  <p:cSld name="Title_without our host unis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9"/>
          <p:cNvSpPr txBox="1">
            <a:spLocks noGrp="1"/>
          </p:cNvSpPr>
          <p:nvPr>
            <p:ph type="ctrTitle"/>
          </p:nvPr>
        </p:nvSpPr>
        <p:spPr>
          <a:xfrm>
            <a:off x="1524000" y="1600200"/>
            <a:ext cx="9144000" cy="19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3000"/>
              <a:buFont typeface="Arial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757070"/>
              </a:buClr>
              <a:buSzPts val="1800"/>
              <a:buNone/>
              <a:defRPr sz="2400">
                <a:solidFill>
                  <a:srgbClr val="757070"/>
                </a:solidFill>
              </a:defRPr>
            </a:lvl1pPr>
            <a:lvl2pPr lvl="1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171616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171616"/>
              </a:buClr>
              <a:buSzPts val="1400"/>
              <a:buNone/>
              <a:defRPr sz="1867"/>
            </a:lvl3pPr>
            <a:lvl4pPr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171616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171616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pic>
        <p:nvPicPr>
          <p:cNvPr id="11" name="Google Shape;11;p9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9435" y="171283"/>
            <a:ext cx="3605531" cy="7834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Google Shape;12;p9"/>
          <p:cNvCxnSpPr/>
          <p:nvPr/>
        </p:nvCxnSpPr>
        <p:spPr>
          <a:xfrm rot="10800000">
            <a:off x="0" y="6811703"/>
            <a:ext cx="12192000" cy="0"/>
          </a:xfrm>
          <a:prstGeom prst="straightConnector1">
            <a:avLst/>
          </a:prstGeom>
          <a:noFill/>
          <a:ln w="1016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" name="Google Shape;1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3962" y="171283"/>
            <a:ext cx="1886148" cy="10064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0296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_no bulletpoints">
  <p:cSld name="One column_no bulletpoints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0"/>
          <p:cNvSpPr txBox="1">
            <a:spLocks noGrp="1"/>
          </p:cNvSpPr>
          <p:nvPr>
            <p:ph type="body" idx="1"/>
          </p:nvPr>
        </p:nvSpPr>
        <p:spPr>
          <a:xfrm>
            <a:off x="431209" y="1067964"/>
            <a:ext cx="11329600" cy="51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171616"/>
              </a:buClr>
              <a:buSzPts val="1500"/>
              <a:buNone/>
              <a:defRPr sz="2000"/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171616"/>
              </a:buClr>
              <a:buSzPts val="1200"/>
              <a:buNone/>
              <a:defRPr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171616"/>
              </a:buClr>
              <a:buSzPts val="1100"/>
              <a:buNone/>
              <a:defRPr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171616"/>
              </a:buClr>
              <a:buSzPts val="1100"/>
              <a:buNone/>
              <a:defRPr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171616"/>
              </a:buClr>
              <a:buSzPts val="11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Google Shape;16;p10"/>
          <p:cNvSpPr txBox="1">
            <a:spLocks noGrp="1"/>
          </p:cNvSpPr>
          <p:nvPr>
            <p:ph type="title"/>
          </p:nvPr>
        </p:nvSpPr>
        <p:spPr>
          <a:xfrm>
            <a:off x="431209" y="321323"/>
            <a:ext cx="113296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51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3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17" name="Google Shape;17;p10" descr="A picture containing ligh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41756" y="6271485"/>
            <a:ext cx="505581" cy="478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Google Shape;18;p10"/>
          <p:cNvCxnSpPr/>
          <p:nvPr/>
        </p:nvCxnSpPr>
        <p:spPr>
          <a:xfrm>
            <a:off x="431209" y="881815"/>
            <a:ext cx="11329600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" name="Google Shape;1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663" y="6271484"/>
            <a:ext cx="1296375" cy="4781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1198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2523280" y="365125"/>
            <a:ext cx="65920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3000"/>
              <a:buFont typeface="Arial"/>
              <a:buNone/>
              <a:defRPr sz="30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238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71616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71616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71616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71616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71616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915709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269" r:id="rId1"/>
    <p:sldLayoutId id="2147484270" r:id="rId2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17417-BD8F-A54A-A2CF-A9C901F525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6000" dirty="0">
                <a:latin typeface="Adobe Arabic" panose="02040503050201020203" pitchFamily="18" charset="-78"/>
                <a:cs typeface="Adobe Arabic" panose="02040503050201020203" pitchFamily="18" charset="-78"/>
              </a:rPr>
              <a:t>Project – Main Assignment</a:t>
            </a:r>
          </a:p>
        </p:txBody>
      </p:sp>
    </p:spTree>
    <p:extLst>
      <p:ext uri="{BB962C8B-B14F-4D97-AF65-F5344CB8AC3E}">
        <p14:creationId xmlns:p14="http://schemas.microsoft.com/office/powerpoint/2010/main" val="725447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innehåll 2">
            <a:extLst>
              <a:ext uri="{FF2B5EF4-FFF2-40B4-BE49-F238E27FC236}">
                <a16:creationId xmlns:a16="http://schemas.microsoft.com/office/drawing/2014/main" id="{C550BAD5-C8EE-E447-FDF7-3A22F24E349B}"/>
              </a:ext>
            </a:extLst>
          </p:cNvPr>
          <p:cNvSpPr txBox="1">
            <a:spLocks/>
          </p:cNvSpPr>
          <p:nvPr/>
        </p:nvSpPr>
        <p:spPr>
          <a:xfrm>
            <a:off x="632717" y="1507125"/>
            <a:ext cx="10515600" cy="506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304792" algn="l" rtl="0" eaLnBrk="1" hangingPunct="1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171616"/>
              </a:buClr>
              <a:buSzPts val="1500"/>
              <a:buFont typeface="Arial"/>
              <a:buNone/>
              <a:defRPr sz="20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304792" algn="l" rtl="0" eaLnBrk="1" hangingPunct="1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17161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 eaLnBrk="1" hangingPunct="1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171616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 eaLnBrk="1" hangingPunct="1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171616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 eaLnBrk="1" hangingPunct="1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171616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23323" algn="l" rtl="0" eaLnBrk="1" hangingPunct="1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23323" algn="l" rtl="0" eaLnBrk="1" hangingPunct="1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23323" algn="l" rtl="0" eaLnBrk="1" hangingPunct="1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23323" algn="l" rtl="0" eaLnBrk="1" hangingPunct="1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47693" indent="-342900">
              <a:buFont typeface="Wingdings" pitchFamily="2" charset="2"/>
              <a:buChar char="q"/>
            </a:pPr>
            <a:r>
              <a:rPr lang="en-GB" sz="2800" b="1" dirty="0">
                <a:solidFill>
                  <a:srgbClr val="000000"/>
                </a:solidFill>
              </a:rPr>
              <a:t>Time</a:t>
            </a:r>
            <a:r>
              <a:rPr lang="en-GB" sz="2800" dirty="0">
                <a:solidFill>
                  <a:srgbClr val="000000"/>
                </a:solidFill>
                <a:latin typeface="-webkit-standard"/>
              </a:rPr>
              <a:t>: Every afternoon, from ~15:00 to 17:00</a:t>
            </a:r>
          </a:p>
          <a:p>
            <a:pPr marL="647693" indent="-342900">
              <a:buFont typeface="Wingdings" pitchFamily="2" charset="2"/>
              <a:buChar char="q"/>
            </a:pPr>
            <a:r>
              <a:rPr lang="en-GB" sz="2800" b="1" dirty="0">
                <a:solidFill>
                  <a:srgbClr val="000000"/>
                </a:solidFill>
              </a:rPr>
              <a:t>Duration</a:t>
            </a:r>
            <a:r>
              <a:rPr lang="en-GB" sz="2800" dirty="0">
                <a:solidFill>
                  <a:srgbClr val="000000"/>
                </a:solidFill>
                <a:latin typeface="-webkit-standard"/>
              </a:rPr>
              <a:t>: Throughout the entire week</a:t>
            </a:r>
          </a:p>
          <a:p>
            <a:pPr marL="647693" indent="-342900">
              <a:buFont typeface="Wingdings" pitchFamily="2" charset="2"/>
              <a:buChar char="q"/>
            </a:pPr>
            <a:r>
              <a:rPr lang="en-GB" sz="2800" dirty="0">
                <a:solidFill>
                  <a:srgbClr val="000000"/>
                </a:solidFill>
                <a:latin typeface="-webkit-standard"/>
              </a:rPr>
              <a:t>Apply your knowledge to tackle a real-world problem at a larger scale than the exercises</a:t>
            </a:r>
            <a:endParaRPr lang="en-GB" sz="2800" dirty="0">
              <a:latin typeface="Calibri" panose="020F0502020204030204" pitchFamily="34" charset="0"/>
            </a:endParaRPr>
          </a:p>
          <a:p>
            <a:pPr marL="647693" indent="-342900">
              <a:buFont typeface="Wingdings" pitchFamily="2" charset="2"/>
              <a:buChar char="q"/>
            </a:pPr>
            <a:r>
              <a:rPr lang="en-GB" sz="2800" dirty="0">
                <a:latin typeface="Calibri" panose="020F0502020204030204" pitchFamily="34" charset="0"/>
              </a:rPr>
              <a:t>Work on your own or in groups</a:t>
            </a:r>
          </a:p>
          <a:p>
            <a:pPr marL="647693" indent="-342900">
              <a:buFont typeface="Wingdings" pitchFamily="2" charset="2"/>
              <a:buChar char="q"/>
            </a:pPr>
            <a:r>
              <a:rPr lang="en-GB" sz="2800" dirty="0">
                <a:latin typeface="Calibri" panose="020F0502020204030204" pitchFamily="34" charset="0"/>
              </a:rPr>
              <a:t>TAs are available for questions</a:t>
            </a:r>
          </a:p>
          <a:p>
            <a:pPr marL="647693" indent="-342900">
              <a:buFont typeface="Wingdings" pitchFamily="2" charset="2"/>
              <a:buChar char="q"/>
            </a:pPr>
            <a:r>
              <a:rPr lang="en-GB" sz="2800" b="1" dirty="0">
                <a:latin typeface="Calibri-Bold"/>
              </a:rPr>
              <a:t>Not mandatory </a:t>
            </a:r>
            <a:r>
              <a:rPr lang="en-GB" sz="2800" dirty="0">
                <a:latin typeface="Calibri" panose="020F0502020204030204" pitchFamily="34" charset="0"/>
              </a:rPr>
              <a:t>but highly recommended</a:t>
            </a:r>
          </a:p>
          <a:p>
            <a:pPr marL="647693" indent="-342900">
              <a:buFont typeface="Wingdings" pitchFamily="2" charset="2"/>
              <a:buChar char="q"/>
            </a:pPr>
            <a:r>
              <a:rPr lang="en-GB" sz="2800" dirty="0">
                <a:latin typeface="Calibri" panose="020F0502020204030204" pitchFamily="34" charset="0"/>
              </a:rPr>
              <a:t>Solutions will be published on </a:t>
            </a:r>
            <a:r>
              <a:rPr lang="en-GB" sz="2800" b="1" dirty="0">
                <a:latin typeface="Calibri-Bold"/>
              </a:rPr>
              <a:t>Friday </a:t>
            </a:r>
            <a:r>
              <a:rPr lang="en-GB" sz="2800" dirty="0">
                <a:latin typeface="Calibri-Bold"/>
              </a:rPr>
              <a:t>after the lectures</a:t>
            </a:r>
            <a:endParaRPr lang="en-GB" sz="2800" b="1" dirty="0">
              <a:latin typeface="Calibri-Bold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AEF7D5-D47B-D7E0-9AE6-A0290B619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GB" sz="4000" dirty="0"/>
              <a:t>Practical information</a:t>
            </a:r>
          </a:p>
        </p:txBody>
      </p:sp>
    </p:spTree>
    <p:extLst>
      <p:ext uri="{BB962C8B-B14F-4D97-AF65-F5344CB8AC3E}">
        <p14:creationId xmlns:p14="http://schemas.microsoft.com/office/powerpoint/2010/main" val="3402566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C4E6308-3DD1-D3D0-2CF5-78BF6BA5BE35}"/>
              </a:ext>
            </a:extLst>
          </p:cNvPr>
          <p:cNvSpPr txBox="1">
            <a:spLocks/>
          </p:cNvSpPr>
          <p:nvPr/>
        </p:nvSpPr>
        <p:spPr>
          <a:xfrm>
            <a:off x="6096000" y="1294603"/>
            <a:ext cx="5908729" cy="476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304792" algn="l" rtl="0" eaLnBrk="1" hangingPunct="1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171616"/>
              </a:buClr>
              <a:buSzPts val="1500"/>
              <a:buFont typeface="Arial"/>
              <a:buNone/>
              <a:defRPr sz="20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304792" algn="l" rtl="0" eaLnBrk="1" hangingPunct="1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17161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 eaLnBrk="1" hangingPunct="1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171616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 eaLnBrk="1" hangingPunct="1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171616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 eaLnBrk="1" hangingPunct="1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171616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23323" algn="l" rtl="0" eaLnBrk="1" hangingPunct="1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23323" algn="l" rtl="0" eaLnBrk="1" hangingPunct="1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23323" algn="l" rtl="0" eaLnBrk="1" hangingPunct="1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23323" algn="l" rtl="0" eaLnBrk="1" hangingPunct="1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GB" sz="3200" dirty="0"/>
              <a:t>Cystic fibrosis (CF)</a:t>
            </a:r>
          </a:p>
          <a:p>
            <a:pPr marL="647693" indent="-342900">
              <a:buFont typeface="Courier New" panose="02070309020205020404" pitchFamily="49" charset="0"/>
              <a:buChar char="o"/>
            </a:pPr>
            <a:r>
              <a:rPr lang="en-GB" sz="2400" dirty="0"/>
              <a:t>Genetically inherited disease</a:t>
            </a:r>
          </a:p>
          <a:p>
            <a:pPr marL="647693" indent="-342900">
              <a:buFont typeface="Courier New" panose="02070309020205020404" pitchFamily="49" charset="0"/>
              <a:buChar char="o"/>
            </a:pPr>
            <a:r>
              <a:rPr lang="en-GB" sz="2400" dirty="0"/>
              <a:t>Produces thick and sticky mucus in organs, including the lungs and pancreas</a:t>
            </a:r>
          </a:p>
          <a:p>
            <a:pPr marL="647693" indent="-342900">
              <a:buFont typeface="Courier New" panose="02070309020205020404" pitchFamily="49" charset="0"/>
              <a:buChar char="o"/>
            </a:pPr>
            <a:r>
              <a:rPr lang="en-GB" sz="2400" dirty="0"/>
              <a:t>Clogs the airways and makes it difficult for patients to breathe</a:t>
            </a:r>
          </a:p>
          <a:p>
            <a:pPr marL="647693" indent="-342900">
              <a:buFont typeface="Courier New" panose="02070309020205020404" pitchFamily="49" charset="0"/>
              <a:buChar char="o"/>
            </a:pPr>
            <a:r>
              <a:rPr lang="en-GB" sz="2400" dirty="0"/>
              <a:t>No cure available</a:t>
            </a:r>
          </a:p>
          <a:p>
            <a:pPr marL="1257278" lvl="1" indent="-342900">
              <a:buFont typeface="Courier New" panose="02070309020205020404" pitchFamily="49" charset="0"/>
              <a:buChar char="o"/>
            </a:pPr>
            <a:r>
              <a:rPr lang="en-GB" sz="1600" dirty="0"/>
              <a:t>Previously only symptom management, such as airway clearance</a:t>
            </a:r>
          </a:p>
          <a:p>
            <a:pPr marL="1257278" lvl="1" indent="-342900">
              <a:buFont typeface="Courier New" panose="02070309020205020404" pitchFamily="49" charset="0"/>
              <a:buChar char="o"/>
            </a:pPr>
            <a:r>
              <a:rPr lang="en-GB" sz="1600" dirty="0"/>
              <a:t>Recent years developed modulator therapies. E.g. CFTR modulators, recover protein function for 90% of patients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64B18A-5F22-2797-06A8-F655575B6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99" y="1690688"/>
            <a:ext cx="5444027" cy="30493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FCF670-5A8C-EB3E-AF2D-FE3BF629C414}"/>
              </a:ext>
            </a:extLst>
          </p:cNvPr>
          <p:cNvSpPr txBox="1"/>
          <p:nvPr/>
        </p:nvSpPr>
        <p:spPr>
          <a:xfrm>
            <a:off x="660399" y="5167312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source: </a:t>
            </a:r>
            <a:r>
              <a:rPr lang="en-GB" dirty="0" err="1"/>
              <a:t>mayoclinic.org</a:t>
            </a:r>
            <a:endParaRPr lang="en-GB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3A80070-0529-7592-2A37-FB7AA233F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GB" sz="4000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839674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D1085E-07C9-1BD5-4B10-A6C8157AB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647693" indent="-342900">
              <a:buFont typeface="Courier New" panose="02070309020205020404" pitchFamily="49" charset="0"/>
              <a:buChar char="o"/>
            </a:pPr>
            <a:r>
              <a:rPr lang="en-GB" sz="2400" dirty="0"/>
              <a:t>CF is caused by mutations in Cystic Fibrosis Transmembrane Conductance Regulator (CFTR).</a:t>
            </a:r>
          </a:p>
          <a:p>
            <a:pPr marL="647693" indent="-342900">
              <a:buFont typeface="Courier New" panose="02070309020205020404" pitchFamily="49" charset="0"/>
              <a:buChar char="o"/>
            </a:pPr>
            <a:r>
              <a:rPr lang="en-GB" sz="2400" dirty="0"/>
              <a:t>The CFTR is an ion channel protein, acting like gates in a cell membrane that control the traffic of molecules through the membrane.</a:t>
            </a:r>
          </a:p>
          <a:p>
            <a:pPr marL="647693" indent="-342900">
              <a:buFont typeface="Courier New" panose="02070309020205020404" pitchFamily="49" charset="0"/>
              <a:buChar char="o"/>
            </a:pPr>
            <a:r>
              <a:rPr lang="en-GB" sz="2400" dirty="0"/>
              <a:t>For regular people, CFTR acts as a gate for chloride ions. When chloride leaves the cell, it carries water with it, which makes mucus less thick.</a:t>
            </a:r>
          </a:p>
          <a:p>
            <a:pPr marL="647693" indent="-342900">
              <a:buFont typeface="Courier New" panose="02070309020205020404" pitchFamily="49" charset="0"/>
              <a:buChar char="o"/>
            </a:pPr>
            <a:r>
              <a:rPr lang="en-GB" sz="2400" dirty="0"/>
              <a:t>For patients with CF, gene mutations in CFTR prevent this functionality, causing the mucus stays sticky and thick.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67452C-7ACB-D111-B17D-E0CD5598B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GB" sz="4000" dirty="0"/>
              <a:t>Genomic facts of Cystic Fibrosis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376E00-6418-75CA-E307-8C5C7721E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396" y="3987385"/>
            <a:ext cx="3638300" cy="21829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E8D91B-C56A-FDDC-AA57-54D3061C0316}"/>
              </a:ext>
            </a:extLst>
          </p:cNvPr>
          <p:cNvSpPr txBox="1"/>
          <p:nvPr/>
        </p:nvSpPr>
        <p:spPr>
          <a:xfrm>
            <a:off x="7975171" y="6170364"/>
            <a:ext cx="31965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source: </a:t>
            </a:r>
            <a:r>
              <a:rPr lang="en-GB" dirty="0" err="1"/>
              <a:t>cff.org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3BD3E6-0925-7719-7F55-8F6365DB539D}"/>
              </a:ext>
            </a:extLst>
          </p:cNvPr>
          <p:cNvSpPr txBox="1"/>
          <p:nvPr/>
        </p:nvSpPr>
        <p:spPr>
          <a:xfrm>
            <a:off x="9573433" y="3987384"/>
            <a:ext cx="1170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Extracellular</a:t>
            </a:r>
            <a:endParaRPr lang="en-SE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46B1EB-3ED2-62A1-BBB3-22F65D5DE513}"/>
              </a:ext>
            </a:extLst>
          </p:cNvPr>
          <p:cNvSpPr txBox="1"/>
          <p:nvPr/>
        </p:nvSpPr>
        <p:spPr>
          <a:xfrm>
            <a:off x="9710483" y="5105346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Cytoplasm</a:t>
            </a:r>
            <a:endParaRPr lang="en-SE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5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784A62-B8BA-FEAF-B334-1A9E1DCF8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1993" indent="-457200">
              <a:buFont typeface="Courier New" panose="02070309020205020404" pitchFamily="49" charset="0"/>
              <a:buChar char="o"/>
            </a:pPr>
            <a:r>
              <a:rPr lang="en-GB" sz="2800" dirty="0"/>
              <a:t>The </a:t>
            </a:r>
            <a:r>
              <a:rPr lang="en-GB" sz="2800" b="1" dirty="0"/>
              <a:t>CFTR gene </a:t>
            </a:r>
            <a:r>
              <a:rPr lang="en-GB" sz="2800" dirty="0"/>
              <a:t>is located on </a:t>
            </a:r>
            <a:r>
              <a:rPr lang="en-GB" sz="2800" b="1" dirty="0"/>
              <a:t>chromosome 7</a:t>
            </a:r>
            <a:r>
              <a:rPr lang="en-GB" sz="2800" dirty="0"/>
              <a:t> in the human genome</a:t>
            </a:r>
          </a:p>
          <a:p>
            <a:pPr marL="761993" indent="-457200">
              <a:buFont typeface="Courier New" panose="02070309020205020404" pitchFamily="49" charset="0"/>
              <a:buChar char="o"/>
            </a:pPr>
            <a:r>
              <a:rPr lang="en-GB" sz="2800" dirty="0"/>
              <a:t>More than 1,500 mutations are known to cause cystic fibrosis (CF)</a:t>
            </a:r>
          </a:p>
          <a:p>
            <a:pPr marL="761993" indent="-457200">
              <a:buFont typeface="Courier New" panose="02070309020205020404" pitchFamily="49" charset="0"/>
              <a:buChar char="o"/>
            </a:pPr>
            <a:r>
              <a:rPr lang="en-GB" sz="2800" dirty="0"/>
              <a:t>One important class of mutations is non-synonymous mutations that introduce a </a:t>
            </a:r>
            <a:r>
              <a:rPr lang="en-GB" sz="2800" b="1" dirty="0"/>
              <a:t>premature termination codon (PTC)</a:t>
            </a:r>
            <a:r>
              <a:rPr lang="en-GB" sz="2800" dirty="0"/>
              <a:t>, resulting in a truncated (shortened) CFTR protein</a:t>
            </a:r>
          </a:p>
          <a:p>
            <a:pPr marL="761993" indent="-457200">
              <a:buFont typeface="Courier New" panose="02070309020205020404" pitchFamily="49" charset="0"/>
              <a:buChar char="o"/>
            </a:pPr>
            <a:r>
              <a:rPr lang="en-GB" sz="2800" b="1" dirty="0"/>
              <a:t>We are particularly interested in mutations that create these premature stop signals</a:t>
            </a:r>
            <a:r>
              <a:rPr lang="en-GB" sz="2800" dirty="0"/>
              <a:t>, because they prevent the CFTR protein from being fully produced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140466-59BE-798D-579F-E3C47C706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GB" sz="4000" dirty="0"/>
              <a:t>More about the CFTR gene</a:t>
            </a:r>
          </a:p>
        </p:txBody>
      </p:sp>
    </p:spTree>
    <p:extLst>
      <p:ext uri="{BB962C8B-B14F-4D97-AF65-F5344CB8AC3E}">
        <p14:creationId xmlns:p14="http://schemas.microsoft.com/office/powerpoint/2010/main" val="2520104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BE593F-0AC0-750A-745F-05FE43BD3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800" b="1" dirty="0"/>
              <a:t>Write Python program(s) that:</a:t>
            </a:r>
          </a:p>
          <a:p>
            <a:pPr marL="647693" indent="-342900">
              <a:buFont typeface="Courier New" panose="02070309020205020404" pitchFamily="49" charset="0"/>
              <a:buChar char="o"/>
            </a:pPr>
            <a:r>
              <a:rPr lang="en-GB" sz="2800" dirty="0"/>
              <a:t>Extract the correct CFTR transcript from the human genome</a:t>
            </a:r>
          </a:p>
          <a:p>
            <a:pPr marL="647693" indent="-342900">
              <a:buFont typeface="Courier New" panose="02070309020205020404" pitchFamily="49" charset="0"/>
              <a:buChar char="o"/>
            </a:pPr>
            <a:r>
              <a:rPr lang="en-GB" sz="2800" dirty="0"/>
              <a:t>Translate it into its corresponding amino acid sequence</a:t>
            </a:r>
          </a:p>
          <a:p>
            <a:pPr marL="647693" indent="-342900">
              <a:buFont typeface="Courier New" panose="02070309020205020404" pitchFamily="49" charset="0"/>
              <a:buChar char="o"/>
            </a:pPr>
            <a:r>
              <a:rPr lang="en-GB" sz="2800" dirty="0"/>
              <a:t>Determine if one or more patients (from DNA sequences of 5 patients) have a premature stop codon, that is, </a:t>
            </a:r>
            <a:r>
              <a:rPr lang="en-GB" sz="2800" b="1" dirty="0"/>
              <a:t>with shortened amino acid sequence</a:t>
            </a:r>
          </a:p>
          <a:p>
            <a:pPr marL="647693" indent="-342900">
              <a:buFont typeface="Courier New" panose="02070309020205020404" pitchFamily="49" charset="0"/>
              <a:buChar char="o"/>
            </a:pPr>
            <a:endParaRPr lang="en-GB" sz="2800" dirty="0"/>
          </a:p>
          <a:p>
            <a:r>
              <a:rPr lang="en-GB" sz="2800" b="1" dirty="0"/>
              <a:t>You will be guided step by step towards the final goal</a:t>
            </a:r>
          </a:p>
          <a:p>
            <a:endParaRPr lang="en-GB" sz="2800" b="1" dirty="0"/>
          </a:p>
          <a:p>
            <a:r>
              <a:rPr lang="en-GB" sz="2800" b="1" dirty="0"/>
              <a:t>For more details: Canvas -&gt; Modules -&gt; Project</a:t>
            </a:r>
            <a:endParaRPr lang="en-GB" sz="2800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AC12D8-2F54-5B3B-AC5B-23906DEC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GB" sz="4000" dirty="0"/>
              <a:t>Goal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368139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138939-FB25-DDF3-D0F5-3FA3A193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GB" sz="4000" dirty="0"/>
              <a:t>Data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77C659-B61A-6351-A2CC-53F7284F9B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221082"/>
              </p:ext>
            </p:extLst>
          </p:nvPr>
        </p:nvGraphicFramePr>
        <p:xfrm>
          <a:off x="431209" y="1084882"/>
          <a:ext cx="11502485" cy="4534610"/>
        </p:xfrm>
        <a:graphic>
          <a:graphicData uri="http://schemas.openxmlformats.org/drawingml/2006/table">
            <a:tbl>
              <a:tblPr/>
              <a:tblGrid>
                <a:gridCol w="4953154">
                  <a:extLst>
                    <a:ext uri="{9D8B030D-6E8A-4147-A177-3AD203B41FA5}">
                      <a16:colId xmlns:a16="http://schemas.microsoft.com/office/drawing/2014/main" val="1531133062"/>
                    </a:ext>
                  </a:extLst>
                </a:gridCol>
                <a:gridCol w="6549331">
                  <a:extLst>
                    <a:ext uri="{9D8B030D-6E8A-4147-A177-3AD203B41FA5}">
                      <a16:colId xmlns:a16="http://schemas.microsoft.com/office/drawing/2014/main" val="3091161681"/>
                    </a:ext>
                  </a:extLst>
                </a:gridCol>
              </a:tblGrid>
              <a:tr h="517839">
                <a:tc>
                  <a:txBody>
                    <a:bodyPr/>
                    <a:lstStyle/>
                    <a:p>
                      <a:r>
                        <a:rPr lang="en-GB" b="1" dirty="0">
                          <a:effectLst/>
                        </a:rPr>
                        <a:t>Filename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effectLst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692442"/>
                  </a:ext>
                </a:extLst>
              </a:tr>
              <a:tr h="517839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Homo_sapiens.GRCh38.93.gtf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Human reference annotation file (GTF format)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678104"/>
                  </a:ext>
                </a:extLst>
              </a:tr>
              <a:tr h="909737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Homo_sapiens.GRCh38.dna_sm.chromosome.7.fa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Human reference DNA sequence for chromosome 7 (fasta format)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424187"/>
                  </a:ext>
                </a:extLst>
              </a:tr>
              <a:tr h="517839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Patient1.fa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DNA sequence data of chr 7 for Patient 1 (</a:t>
                      </a:r>
                      <a:r>
                        <a:rPr lang="en-GB" dirty="0" err="1">
                          <a:effectLst/>
                        </a:rPr>
                        <a:t>fasta</a:t>
                      </a:r>
                      <a:r>
                        <a:rPr lang="en-GB" dirty="0">
                          <a:effectLst/>
                        </a:rPr>
                        <a:t> format)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390065"/>
                  </a:ext>
                </a:extLst>
              </a:tr>
              <a:tr h="517839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Patient2.fa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DNA sequence data of chr 7 for Patient 2 (</a:t>
                      </a:r>
                      <a:r>
                        <a:rPr lang="en-GB" dirty="0" err="1">
                          <a:effectLst/>
                        </a:rPr>
                        <a:t>fasta</a:t>
                      </a:r>
                      <a:r>
                        <a:rPr lang="en-GB" dirty="0">
                          <a:effectLst/>
                        </a:rPr>
                        <a:t> format)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863282"/>
                  </a:ext>
                </a:extLst>
              </a:tr>
              <a:tr h="517839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Patient3.fa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DNA sequence data of chr 7 for Patient 3 (</a:t>
                      </a:r>
                      <a:r>
                        <a:rPr lang="en-GB" dirty="0" err="1">
                          <a:effectLst/>
                        </a:rPr>
                        <a:t>fasta</a:t>
                      </a:r>
                      <a:r>
                        <a:rPr lang="en-GB" dirty="0">
                          <a:effectLst/>
                        </a:rPr>
                        <a:t> format)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5579763"/>
                  </a:ext>
                </a:extLst>
              </a:tr>
              <a:tr h="517839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Patient4.fa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DNA sequence data of chr 7 for Patient 4 (</a:t>
                      </a:r>
                      <a:r>
                        <a:rPr lang="en-GB" dirty="0" err="1">
                          <a:effectLst/>
                        </a:rPr>
                        <a:t>fasta</a:t>
                      </a:r>
                      <a:r>
                        <a:rPr lang="en-GB" dirty="0">
                          <a:effectLst/>
                        </a:rPr>
                        <a:t> format)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595102"/>
                  </a:ext>
                </a:extLst>
              </a:tr>
              <a:tr h="517839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Patient5.fa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DNA sequence data of chr 7 for Patient 5 (</a:t>
                      </a:r>
                      <a:r>
                        <a:rPr lang="en-GB" dirty="0" err="1">
                          <a:effectLst/>
                        </a:rPr>
                        <a:t>fasta</a:t>
                      </a:r>
                      <a:r>
                        <a:rPr lang="en-GB" dirty="0">
                          <a:effectLst/>
                        </a:rPr>
                        <a:t> format)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943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3271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1F1AAB-DE3C-8D50-421B-C1B8B5556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&gt;MT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dna:chromosome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chromosome:GRCh38:MT:1:16569:1 REF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GATCACAGGTCTATCACCCTATTAACCACTCACGGGAGCTCTCCATGCATTTGGTATTTT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CGTCTGGGGGGTATGCACGCGATAGCATTGCGAGACGCTGGAGCCGGAGCACCCTATGTC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GCAGTATCTGTCTTTGATTCCTGCCTCATCCTATTATTTATCGCACCTACGTTCAATATT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ACAGGCGAACATACTTACTAAAGTGTGTTAATTAATTAATGCTTGTAGGACATAATAATA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ACAATTGAATGTCTGCACAGCCACTTTCCACACAGACATCATAACAAAAAATTTCCACCA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AACCCCCCCTCCCCCGCTTCTGGCCACAGCACTTAAACACATCTCTGCCAAACCCCAAAA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ACAAAGAACCCTAACACCAGCCTAACCAGATTTCAAATTTTATCTTTTGGCGGTATGCAC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TTTTAACAGTCACCCCCCAACTAACACATTATTTTCCCCTCCCACTCCCATACTACTAAT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CTCATCAATACAACCCCCGCCCATCCTACCCAGCACACACACACCGCTGCTAACCCCATA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CCCCGAACCAACCAAACCCCAAAGACACCCCCCACAGTTTATGTAGCTTACCTCCTCAAA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096A1B-C3EA-AAAA-2DF6-64AB23D97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GB" sz="4000" dirty="0" err="1"/>
              <a:t>Fasta</a:t>
            </a:r>
            <a:r>
              <a:rPr lang="en-GB" sz="4000" dirty="0"/>
              <a:t> format</a:t>
            </a:r>
          </a:p>
        </p:txBody>
      </p:sp>
    </p:spTree>
    <p:extLst>
      <p:ext uri="{BB962C8B-B14F-4D97-AF65-F5344CB8AC3E}">
        <p14:creationId xmlns:p14="http://schemas.microsoft.com/office/powerpoint/2010/main" val="2635803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F78F0F-275C-A674-E4DB-4CC9B7BDE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47693" indent="-342900">
              <a:buFont typeface="Courier New" panose="02070309020205020404" pitchFamily="49" charset="0"/>
              <a:buChar char="o"/>
            </a:pPr>
            <a:r>
              <a:rPr lang="en-GB" dirty="0"/>
              <a:t>GTF stands for Gene transfer format</a:t>
            </a:r>
          </a:p>
          <a:p>
            <a:pPr marL="647693" indent="-342900">
              <a:buFont typeface="Courier New" panose="02070309020205020404" pitchFamily="49" charset="0"/>
              <a:buChar char="o"/>
            </a:pPr>
            <a:r>
              <a:rPr lang="en-GB" dirty="0"/>
              <a:t>Holds information about the gene structure</a:t>
            </a:r>
          </a:p>
          <a:p>
            <a:pPr marL="647693" indent="-342900">
              <a:buFont typeface="Courier New" panose="02070309020205020404" pitchFamily="49" charset="0"/>
              <a:buChar char="o"/>
            </a:pPr>
            <a:r>
              <a:rPr lang="en-GB" dirty="0"/>
              <a:t>Tab-delimited, i.e., columns are separated by tabs (‘\t’)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6EB5FB-83E4-8B03-0223-7BEEA3ACA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GB" sz="4000" dirty="0"/>
              <a:t>GTF format</a:t>
            </a:r>
          </a:p>
        </p:txBody>
      </p:sp>
    </p:spTree>
    <p:extLst>
      <p:ext uri="{BB962C8B-B14F-4D97-AF65-F5344CB8AC3E}">
        <p14:creationId xmlns:p14="http://schemas.microsoft.com/office/powerpoint/2010/main" val="3744426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3B0B96-8491-E8E8-0E58-C27F5C5F1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&lt;</a:t>
            </a:r>
            <a:r>
              <a:rPr lang="en-GB" b="1" dirty="0" err="1"/>
              <a:t>seqname</a:t>
            </a:r>
            <a:r>
              <a:rPr lang="en-GB" b="1" dirty="0"/>
              <a:t>&gt; &lt;source&gt; &lt;feature&gt; &lt;start&gt; &lt;end&gt; &lt;score&gt; &lt;strand&gt; &lt;frame&gt; [attributes]</a:t>
            </a:r>
          </a:p>
          <a:p>
            <a:r>
              <a:rPr lang="en-GB" dirty="0"/>
              <a:t>1. </a:t>
            </a:r>
            <a:r>
              <a:rPr lang="en-GB" b="1" dirty="0"/>
              <a:t>&lt;</a:t>
            </a:r>
            <a:r>
              <a:rPr lang="en-GB" b="1" dirty="0" err="1"/>
              <a:t>seqname</a:t>
            </a:r>
            <a:r>
              <a:rPr lang="en-GB" b="1" dirty="0"/>
              <a:t>&gt;</a:t>
            </a:r>
            <a:r>
              <a:rPr lang="en-GB" dirty="0"/>
              <a:t>: The name of the sequence (typically a chromosome number).</a:t>
            </a:r>
          </a:p>
          <a:p>
            <a:r>
              <a:rPr lang="en-GB" dirty="0"/>
              <a:t>2. </a:t>
            </a:r>
            <a:r>
              <a:rPr lang="en-GB" b="1" dirty="0"/>
              <a:t>&lt;source&gt;</a:t>
            </a:r>
            <a:r>
              <a:rPr lang="en-GB" dirty="0"/>
              <a:t>: The source of the annotation (e.g., ENSEMBL).</a:t>
            </a:r>
          </a:p>
          <a:p>
            <a:r>
              <a:rPr lang="en-GB" dirty="0"/>
              <a:t>3. </a:t>
            </a:r>
            <a:r>
              <a:rPr lang="en-GB" b="1" dirty="0"/>
              <a:t>&lt;feature&gt;</a:t>
            </a:r>
            <a:r>
              <a:rPr lang="en-GB" dirty="0"/>
              <a:t>: The type of feature (e.g., gene, transcript, exon).</a:t>
            </a:r>
          </a:p>
          <a:p>
            <a:r>
              <a:rPr lang="en-GB" dirty="0"/>
              <a:t>4. </a:t>
            </a:r>
            <a:r>
              <a:rPr lang="en-GB" b="1" dirty="0"/>
              <a:t>&lt;start&gt;</a:t>
            </a:r>
            <a:r>
              <a:rPr lang="en-GB" dirty="0"/>
              <a:t>: The starting position of the feature in the sequence, </a:t>
            </a:r>
            <a:r>
              <a:rPr lang="en-GB" b="1" dirty="0"/>
              <a:t>starting from 1</a:t>
            </a:r>
            <a:r>
              <a:rPr lang="en-GB" dirty="0"/>
              <a:t>.</a:t>
            </a:r>
          </a:p>
          <a:p>
            <a:r>
              <a:rPr lang="en-GB" dirty="0"/>
              <a:t>5. </a:t>
            </a:r>
            <a:r>
              <a:rPr lang="en-GB" b="1" dirty="0"/>
              <a:t>&lt;end&gt;</a:t>
            </a:r>
            <a:r>
              <a:rPr lang="en-GB" dirty="0"/>
              <a:t>: The ending position of the feature in the sequence, </a:t>
            </a:r>
            <a:r>
              <a:rPr lang="en-GB" b="1" dirty="0"/>
              <a:t>end position included</a:t>
            </a:r>
            <a:r>
              <a:rPr lang="en-GB" dirty="0"/>
              <a:t>.</a:t>
            </a:r>
          </a:p>
          <a:p>
            <a:r>
              <a:rPr lang="en-GB" dirty="0"/>
              <a:t>6. </a:t>
            </a:r>
            <a:r>
              <a:rPr lang="en-GB" b="1" dirty="0"/>
              <a:t>&lt;score&gt;</a:t>
            </a:r>
            <a:r>
              <a:rPr lang="en-GB" dirty="0"/>
              <a:t>: A score between 0 and 1000, or . if not applicable (indicating the reliability of the annotation).</a:t>
            </a:r>
          </a:p>
          <a:p>
            <a:r>
              <a:rPr lang="en-GB" dirty="0"/>
              <a:t>7. </a:t>
            </a:r>
            <a:r>
              <a:rPr lang="en-GB" b="1" dirty="0"/>
              <a:t>&lt;strand&gt;</a:t>
            </a:r>
            <a:r>
              <a:rPr lang="en-GB" dirty="0"/>
              <a:t>: The strand on which the feature is located (`+` for the forward strand, `-` for the reverse strand). (</a:t>
            </a:r>
            <a:r>
              <a:rPr lang="en-GB" b="1" dirty="0"/>
              <a:t>only forward strand in this project</a:t>
            </a:r>
            <a:r>
              <a:rPr lang="en-GB" dirty="0"/>
              <a:t>)</a:t>
            </a:r>
          </a:p>
          <a:p>
            <a:r>
              <a:rPr lang="en-GB" dirty="0"/>
              <a:t>8. </a:t>
            </a:r>
            <a:r>
              <a:rPr lang="en-GB" b="1" dirty="0"/>
              <a:t>&lt;frame&gt;</a:t>
            </a:r>
            <a:r>
              <a:rPr lang="en-GB" dirty="0"/>
              <a:t>: The reading frame, one of '0', '1' or '2', or `.` if not applicable.</a:t>
            </a:r>
          </a:p>
          <a:p>
            <a:r>
              <a:rPr lang="en-GB" dirty="0"/>
              <a:t>9. </a:t>
            </a:r>
            <a:r>
              <a:rPr lang="en-GB" b="1" dirty="0"/>
              <a:t>[attribute]</a:t>
            </a:r>
            <a:r>
              <a:rPr lang="en-GB" dirty="0"/>
              <a:t>: A list of key-value pairs providing additional information about the feature.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417B14-6EDB-DA51-3886-46DECB7D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GB" sz="4000" dirty="0"/>
              <a:t>Columns of GTF file</a:t>
            </a:r>
          </a:p>
        </p:txBody>
      </p:sp>
    </p:spTree>
    <p:extLst>
      <p:ext uri="{BB962C8B-B14F-4D97-AF65-F5344CB8AC3E}">
        <p14:creationId xmlns:p14="http://schemas.microsoft.com/office/powerpoint/2010/main" val="3242229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97A1CF-DF31-47ED-B1F4-57430BA00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47693" indent="-342900">
              <a:buFont typeface="Courier New" panose="02070309020205020404" pitchFamily="49" charset="0"/>
              <a:buChar char="o"/>
            </a:pPr>
            <a:r>
              <a:rPr lang="en-GB" sz="2000" b="1" dirty="0"/>
              <a:t>A semicolon (;)</a:t>
            </a:r>
            <a:r>
              <a:rPr lang="en-GB" sz="2000" dirty="0"/>
              <a:t>-separated list of key-value pairs </a:t>
            </a:r>
          </a:p>
          <a:p>
            <a:pPr marL="647693" indent="-342900">
              <a:buFont typeface="Courier New" panose="02070309020205020404" pitchFamily="49" charset="0"/>
              <a:buChar char="o"/>
            </a:pPr>
            <a:r>
              <a:rPr lang="en-GB" dirty="0"/>
              <a:t>For each key-value pair, key is one word, and the value is quoted by double quotes, which may contain multiple words  </a:t>
            </a:r>
            <a:r>
              <a:rPr lang="en-GB" sz="2000" dirty="0"/>
              <a:t> </a:t>
            </a:r>
          </a:p>
          <a:p>
            <a:pPr marL="647693" indent="-342900">
              <a:buFont typeface="Courier New" panose="02070309020205020404" pitchFamily="49" charset="0"/>
              <a:buChar char="o"/>
            </a:pPr>
            <a:r>
              <a:rPr lang="en-GB" sz="2000" dirty="0"/>
              <a:t>A key can be repeated multiple times.</a:t>
            </a:r>
          </a:p>
          <a:p>
            <a:pPr marL="0" indent="0" algn="just">
              <a:buNone/>
            </a:pPr>
            <a:r>
              <a:rPr lang="en-GB" sz="2000" b="1" dirty="0">
                <a:cs typeface="Courier New" panose="02070309020205020404" pitchFamily="49" charset="0"/>
              </a:rPr>
              <a:t>Some attributes (always semi-colon separated key-value pairs):</a:t>
            </a:r>
          </a:p>
          <a:p>
            <a:pPr marL="647693" indent="-342900" algn="just">
              <a:buFont typeface="Courier New" panose="02070309020205020404" pitchFamily="49" charset="0"/>
              <a:buChar char="o"/>
            </a:pPr>
            <a:r>
              <a:rPr lang="en-GB" sz="2000" dirty="0" err="1"/>
              <a:t>gene_id</a:t>
            </a:r>
            <a:r>
              <a:rPr lang="en-GB" sz="2000" dirty="0"/>
              <a:t>: The stable identifier for the gene</a:t>
            </a:r>
          </a:p>
          <a:p>
            <a:pPr marL="647693" indent="-342900" algn="just">
              <a:buFont typeface="Courier New" panose="02070309020205020404" pitchFamily="49" charset="0"/>
              <a:buChar char="o"/>
            </a:pPr>
            <a:r>
              <a:rPr lang="en-GB" sz="2000" dirty="0" err="1"/>
              <a:t>gene_version</a:t>
            </a:r>
            <a:r>
              <a:rPr lang="en-GB" sz="2000" dirty="0"/>
              <a:t>: The stable identifier version for the gene</a:t>
            </a:r>
          </a:p>
          <a:p>
            <a:pPr marL="647693" indent="-342900" algn="just">
              <a:buFont typeface="Courier New" panose="02070309020205020404" pitchFamily="49" charset="0"/>
              <a:buChar char="o"/>
            </a:pPr>
            <a:r>
              <a:rPr lang="en-GB" sz="2000" dirty="0" err="1"/>
              <a:t>gene_name</a:t>
            </a:r>
            <a:r>
              <a:rPr lang="en-GB" sz="2000" dirty="0"/>
              <a:t>: The official symbol of this gene</a:t>
            </a:r>
          </a:p>
          <a:p>
            <a:pPr marL="647693" indent="-342900" algn="just">
              <a:buFont typeface="Courier New" panose="02070309020205020404" pitchFamily="49" charset="0"/>
              <a:buChar char="o"/>
            </a:pPr>
            <a:r>
              <a:rPr lang="en-GB" sz="2000" dirty="0" err="1"/>
              <a:t>gene_source</a:t>
            </a:r>
            <a:r>
              <a:rPr lang="en-GB" sz="2000" dirty="0"/>
              <a:t>: The annotation source for this gene</a:t>
            </a:r>
          </a:p>
          <a:p>
            <a:pPr marL="647693" indent="-342900" algn="just">
              <a:buFont typeface="Courier New" panose="02070309020205020404" pitchFamily="49" charset="0"/>
              <a:buChar char="o"/>
            </a:pPr>
            <a:r>
              <a:rPr lang="en-GB" sz="2000" dirty="0" err="1"/>
              <a:t>transcript_id</a:t>
            </a:r>
            <a:r>
              <a:rPr lang="en-GB" sz="2000" dirty="0"/>
              <a:t>: The stable identifier for this transcript</a:t>
            </a:r>
          </a:p>
          <a:p>
            <a:pPr marL="647693" indent="-342900" algn="just">
              <a:buFont typeface="Courier New" panose="02070309020205020404" pitchFamily="49" charset="0"/>
              <a:buChar char="o"/>
            </a:pPr>
            <a:r>
              <a:rPr lang="en-GB" sz="2000" dirty="0" err="1"/>
              <a:t>transcript_name</a:t>
            </a:r>
            <a:r>
              <a:rPr lang="en-GB" sz="2000" dirty="0"/>
              <a:t>: The </a:t>
            </a:r>
            <a:r>
              <a:rPr lang="en-GB" sz="2000" dirty="0" err="1"/>
              <a:t>symbold</a:t>
            </a:r>
            <a:r>
              <a:rPr lang="en-GB" sz="2000" dirty="0"/>
              <a:t> for this transcript derived from the gene name</a:t>
            </a:r>
          </a:p>
          <a:p>
            <a:pPr marL="647693" indent="-342900" algn="just">
              <a:buFont typeface="Courier New" panose="02070309020205020404" pitchFamily="49" charset="0"/>
              <a:buChar char="o"/>
            </a:pPr>
            <a:r>
              <a:rPr lang="en-GB" sz="2000" dirty="0" err="1"/>
              <a:t>exon_id</a:t>
            </a:r>
            <a:r>
              <a:rPr lang="en-GB" sz="2000" dirty="0"/>
              <a:t>: The stable identifier for this exon</a:t>
            </a:r>
            <a:endParaRPr lang="en-GB" sz="2000" dirty="0">
              <a:cs typeface="Courier New" panose="02070309020205020404" pitchFamily="49" charset="0"/>
            </a:endParaRPr>
          </a:p>
          <a:p>
            <a:endParaRPr lang="en-GB" sz="2000" dirty="0">
              <a:cs typeface="Courier New" panose="02070309020205020404" pitchFamily="49" charset="0"/>
            </a:endParaRP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9EE5E1-56AC-74DB-C307-303FC6D31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Attribute of GTF</a:t>
            </a:r>
          </a:p>
        </p:txBody>
      </p:sp>
    </p:spTree>
    <p:extLst>
      <p:ext uri="{BB962C8B-B14F-4D97-AF65-F5344CB8AC3E}">
        <p14:creationId xmlns:p14="http://schemas.microsoft.com/office/powerpoint/2010/main" val="2312524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91D396-B857-0153-7592-A993E01B77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seqname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 &lt;source&gt; &lt;feature&gt; &lt;start&gt; &lt;end&gt; &lt;score&gt; &lt;strand&gt; &lt;frame&gt; [attributes]</a:t>
            </a:r>
          </a:p>
          <a:p>
            <a:pPr marL="0" indent="0" algn="just">
              <a:buNone/>
            </a:pPr>
            <a:endParaRPr lang="en-GB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havana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gene 11869 14409 . + .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gene_id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"ENSG00000223972";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gene_version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"5";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gene_name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"DDX11L1";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gene_source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havana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gene_biotype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transcribed_unprocessed_pseudogene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marL="0" indent="0" algn="just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havana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transcript 11869 14409 . + .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gene_id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"ENSG00000223972";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gene_version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"5";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transcript_id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"ENST00000456328";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transcript_version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"2";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gene_name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"DDX11L1";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gene_source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havana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gene_biotype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transcribed_unprocessed_pseudogene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transcript_name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"DDX11L1-202";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transcript_source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havana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transcript_biotype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processed_transcript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"; tag "basic";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transcript_support_level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"1";</a:t>
            </a:r>
          </a:p>
          <a:p>
            <a:pPr marL="0" indent="0" algn="just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havana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exon 11869 12227 . + .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gene_id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"ENSG00000223972";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gene_version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"5";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transcript_id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"ENST00000456328";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transcript_version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"2";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exon_number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"1";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gene_name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"DDX11L1";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gene_source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havana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gene_biotype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transcribed_unprocessed_pseudogene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transcript_name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"DDX11L1-202";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transcript_source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havana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transcript_biotype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processed_transcript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exon_id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"ENSE00002234944";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exon_version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"1"; tag "basic";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transcript_support_level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"1";</a:t>
            </a:r>
          </a:p>
          <a:p>
            <a:endParaRPr lang="en-S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9B1138-D714-7D0A-9219-02955AA11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SE" sz="4000" dirty="0"/>
              <a:t>GTF example</a:t>
            </a:r>
          </a:p>
        </p:txBody>
      </p:sp>
    </p:spTree>
    <p:extLst>
      <p:ext uri="{BB962C8B-B14F-4D97-AF65-F5344CB8AC3E}">
        <p14:creationId xmlns:p14="http://schemas.microsoft.com/office/powerpoint/2010/main" val="4058769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84B62B-8B79-2806-71BA-7EBB3BC14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SE" dirty="0"/>
              <a:t>How to get DNA sequence of a gene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3B81A2-417B-5BC0-0E94-899075C20790}"/>
              </a:ext>
            </a:extLst>
          </p:cNvPr>
          <p:cNvSpPr txBox="1"/>
          <p:nvPr/>
        </p:nvSpPr>
        <p:spPr>
          <a:xfrm>
            <a:off x="431208" y="950762"/>
            <a:ext cx="113295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seqname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&lt;source&gt; &lt;feature&gt; &lt;start&gt; &lt;end&gt; &lt;score&gt; &lt;strand&gt; &lt;frame&gt; [attributes]</a:t>
            </a:r>
          </a:p>
          <a:p>
            <a:pPr marL="0" indent="0" algn="just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havana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gene 11869 14409 . + .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gene_id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"ENSG00000223972";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gene_version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"5";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gene_name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"DDX11L1";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gene_source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"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havana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";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gene_biotype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"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transcribed_unprocessed_pseudogene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8DACA4-7B9F-7B74-84F4-9218B018BB4A}"/>
              </a:ext>
            </a:extLst>
          </p:cNvPr>
          <p:cNvSpPr txBox="1"/>
          <p:nvPr/>
        </p:nvSpPr>
        <p:spPr>
          <a:xfrm>
            <a:off x="239843" y="2535864"/>
            <a:ext cx="11952157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  <a:cs typeface="Courier New" panose="02070309020205020404" pitchFamily="49" charset="0"/>
              </a:rPr>
              <a:t>Get full DNA sequence of human ch7 from the file "</a:t>
            </a:r>
            <a:r>
              <a:rPr lang="en-GB" sz="2400" dirty="0">
                <a:latin typeface="Andale Mono" panose="020B0509000000000004" pitchFamily="49" charset="0"/>
                <a:cs typeface="Courier New" panose="02070309020205020404" pitchFamily="49" charset="0"/>
              </a:rPr>
              <a:t>Homo_sapiens.GRCh38.dna_sm.chromosome.7.fa</a:t>
            </a:r>
            <a:r>
              <a:rPr lang="en-GB" sz="2400" dirty="0">
                <a:latin typeface="+mn-lt"/>
                <a:cs typeface="Courier New" panose="02070309020205020404" pitchFamily="49" charset="0"/>
              </a:rPr>
              <a:t>”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  <a:cs typeface="Courier New" panose="02070309020205020404" pitchFamily="49" charset="0"/>
              </a:rPr>
              <a:t>The position is 1-based, with both ends included</a:t>
            </a:r>
          </a:p>
          <a:p>
            <a:pPr marL="0" indent="0">
              <a:buNone/>
            </a:pPr>
            <a:endParaRPr lang="en-GB" sz="2400" dirty="0">
              <a:latin typeface="+mn-lt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2400" dirty="0" err="1">
                <a:latin typeface="Andale Mono" panose="020B0509000000000004" pitchFamily="49" charset="0"/>
                <a:cs typeface="Courier New" panose="02070309020205020404" pitchFamily="49" charset="0"/>
              </a:rPr>
              <a:t>start_pos</a:t>
            </a:r>
            <a:r>
              <a:rPr lang="en-GB" sz="2400" dirty="0">
                <a:latin typeface="Andale Mono" panose="020B0509000000000004" pitchFamily="49" charset="0"/>
                <a:cs typeface="Courier New" panose="02070309020205020404" pitchFamily="49" charset="0"/>
              </a:rPr>
              <a:t> = 11869</a:t>
            </a:r>
          </a:p>
          <a:p>
            <a:pPr marL="0" indent="0">
              <a:buNone/>
            </a:pPr>
            <a:r>
              <a:rPr lang="en-GB" sz="2400" dirty="0" err="1">
                <a:latin typeface="Andale Mono" panose="020B0509000000000004" pitchFamily="49" charset="0"/>
                <a:cs typeface="Courier New" panose="02070309020205020404" pitchFamily="49" charset="0"/>
              </a:rPr>
              <a:t>end_pos</a:t>
            </a:r>
            <a:r>
              <a:rPr lang="en-GB" sz="2400" dirty="0">
                <a:latin typeface="Andale Mono" panose="020B0509000000000004" pitchFamily="49" charset="0"/>
                <a:cs typeface="Courier New" panose="02070309020205020404" pitchFamily="49" charset="0"/>
              </a:rPr>
              <a:t> = 14409</a:t>
            </a:r>
          </a:p>
          <a:p>
            <a:pPr marL="0" indent="0">
              <a:buNone/>
            </a:pPr>
            <a:endParaRPr lang="en-GB" sz="2400" dirty="0">
              <a:latin typeface="Andale Mono" panose="020B05090000000000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2400" dirty="0" err="1">
                <a:latin typeface="Andale Mono" panose="020B0509000000000004" pitchFamily="49" charset="0"/>
                <a:cs typeface="Courier New" panose="02070309020205020404" pitchFamily="49" charset="0"/>
              </a:rPr>
              <a:t>seq_gene</a:t>
            </a:r>
            <a:r>
              <a:rPr lang="en-GB" sz="2400" dirty="0">
                <a:latin typeface="Andale Mono" panose="020B0509000000000004" pitchFamily="49" charset="0"/>
                <a:cs typeface="Courier New" panose="02070309020205020404" pitchFamily="49" charset="0"/>
              </a:rPr>
              <a:t> = ch7_dna_sequence[</a:t>
            </a:r>
            <a:r>
              <a:rPr lang="en-GB" sz="2400" dirty="0" err="1">
                <a:latin typeface="Andale Mono" panose="020B0509000000000004" pitchFamily="49" charset="0"/>
                <a:cs typeface="Courier New" panose="02070309020205020404" pitchFamily="49" charset="0"/>
              </a:rPr>
              <a:t>start_pos</a:t>
            </a:r>
            <a:r>
              <a:rPr lang="en-GB" sz="2400" dirty="0">
                <a:latin typeface="Andale Mono" panose="020B0509000000000004" pitchFamily="49" charset="0"/>
                <a:cs typeface="Courier New" panose="02070309020205020404" pitchFamily="49" charset="0"/>
              </a:rPr>
              <a:t> </a:t>
            </a:r>
            <a:r>
              <a:rPr lang="en-GB" sz="2400" b="1" dirty="0">
                <a:latin typeface="Andale Mono" panose="020B0509000000000004" pitchFamily="49" charset="0"/>
                <a:cs typeface="Courier New" panose="02070309020205020404" pitchFamily="49" charset="0"/>
              </a:rPr>
              <a:t>- 1</a:t>
            </a:r>
            <a:r>
              <a:rPr lang="en-GB" sz="2400" dirty="0">
                <a:latin typeface="Andale Mono" panose="020B0509000000000004" pitchFamily="49" charset="0"/>
                <a:cs typeface="Courier New" panose="02070309020205020404" pitchFamily="49" charset="0"/>
              </a:rPr>
              <a:t>:end_pos]</a:t>
            </a:r>
          </a:p>
          <a:p>
            <a:pPr marL="0" indent="0" algn="just">
              <a:buNone/>
            </a:pPr>
            <a:endParaRPr lang="en-GB" sz="2400" dirty="0"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680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850B9C-7030-10D1-BE5D-994C0ECA8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647693" indent="-342900" algn="l">
              <a:buFont typeface="Courier New" panose="02070309020205020404" pitchFamily="49" charset="0"/>
              <a:buChar char="o"/>
            </a:pP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Create a folder called </a:t>
            </a:r>
            <a:r>
              <a:rPr lang="en-GB" sz="2800" b="0" i="0" u="none" strike="noStrike" baseline="0" dirty="0">
                <a:solidFill>
                  <a:srgbClr val="FF0000"/>
                </a:solidFill>
                <a:latin typeface="Calibri" panose="020F0502020204030204" pitchFamily="34" charset="0"/>
              </a:rPr>
              <a:t>project</a:t>
            </a:r>
          </a:p>
          <a:p>
            <a:pPr marL="647693" indent="-342900" algn="l">
              <a:buFont typeface="Courier New" panose="02070309020205020404" pitchFamily="49" charset="0"/>
              <a:buChar char="o"/>
            </a:pP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Download and extract the project files in this folder (download link is provided in the project page)</a:t>
            </a:r>
          </a:p>
          <a:p>
            <a:pPr marL="647693" indent="-342900" algn="l">
              <a:buFont typeface="Courier New" panose="02070309020205020404" pitchFamily="49" charset="0"/>
              <a:buChar char="o"/>
            </a:pP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Work with Jupyter or any text editor or IDE (e.g., Spyder, </a:t>
            </a:r>
            <a:r>
              <a:rPr lang="en-GB" sz="2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VSCode</a:t>
            </a: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</a:p>
          <a:p>
            <a:pPr marL="647693" indent="-342900" algn="l">
              <a:buFont typeface="Courier New" panose="02070309020205020404" pitchFamily="49" charset="0"/>
              <a:buChar char="o"/>
            </a:pP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Ask questions if something is unclear</a:t>
            </a:r>
          </a:p>
          <a:p>
            <a:pPr marL="647693" indent="-342900" algn="l">
              <a:buFont typeface="Courier New" panose="02070309020205020404" pitchFamily="49" charset="0"/>
              <a:buChar char="o"/>
            </a:pP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Speak to a TA or discuss with your neighbour </a:t>
            </a:r>
          </a:p>
          <a:p>
            <a:pPr marL="647693" indent="-342900" algn="l">
              <a:buFont typeface="Courier New" panose="02070309020205020404" pitchFamily="49" charset="0"/>
              <a:buChar char="o"/>
            </a:pPr>
            <a:r>
              <a:rPr lang="en-GB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Or use the discussion section in Canvas</a:t>
            </a:r>
          </a:p>
          <a:p>
            <a:pPr marL="647693" indent="-342900" algn="l">
              <a:buFont typeface="Courier New" panose="02070309020205020404" pitchFamily="49" charset="0"/>
              <a:buChar char="o"/>
            </a:pPr>
            <a:r>
              <a:rPr lang="en-GB" sz="2800" dirty="0">
                <a:solidFill>
                  <a:srgbClr val="000000"/>
                </a:solidFill>
                <a:latin typeface="Calibri" panose="020F0502020204030204" pitchFamily="34" charset="0"/>
              </a:rPr>
              <a:t>Don’t be too fast </a:t>
            </a:r>
            <a:r>
              <a:rPr lang="en-GB" sz="2800" dirty="0">
                <a:solidFill>
                  <a:srgbClr val="000000"/>
                </a:solidFill>
                <a:latin typeface="Calibri" panose="020F0502020204030204" pitchFamily="34" charset="0"/>
                <a:sym typeface="Wingdings" pitchFamily="2" charset="2"/>
              </a:rPr>
              <a:t></a:t>
            </a:r>
            <a:endParaRPr lang="en-GB" sz="2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1257278" lvl="1" indent="-342900">
              <a:buFont typeface="Courier New" panose="02070309020205020404" pitchFamily="49" charset="0"/>
              <a:buChar char="o"/>
            </a:pPr>
            <a:r>
              <a:rPr lang="en-GB" sz="2000" dirty="0"/>
              <a:t>Day 1: &gt;| question 2</a:t>
            </a:r>
          </a:p>
          <a:p>
            <a:pPr marL="1257278" lvl="1" indent="-342900">
              <a:buFont typeface="Courier New" panose="02070309020205020404" pitchFamily="49" charset="0"/>
              <a:buChar char="o"/>
            </a:pPr>
            <a:r>
              <a:rPr lang="en-GB" sz="2000" dirty="0"/>
              <a:t>Day 2: &gt;| question 5</a:t>
            </a:r>
          </a:p>
          <a:p>
            <a:pPr marL="1257278" lvl="1" indent="-342900">
              <a:buFont typeface="Courier New" panose="02070309020205020404" pitchFamily="49" charset="0"/>
              <a:buChar char="o"/>
            </a:pPr>
            <a:r>
              <a:rPr lang="en-GB" sz="2000" dirty="0"/>
              <a:t>Day 3: The whole project</a:t>
            </a:r>
          </a:p>
          <a:p>
            <a:pPr marL="647693" indent="-342900">
              <a:buFont typeface="Courier New" panose="02070309020205020404" pitchFamily="49" charset="0"/>
              <a:buChar char="o"/>
            </a:pPr>
            <a:r>
              <a:rPr lang="en-SE" sz="2800" dirty="0"/>
              <a:t>Find out more info at Canvas -&gt; Modules -&gt; Project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5B93C0-5FA4-562B-73A2-6CC64462D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SE" sz="4000" dirty="0"/>
              <a:t>Getting started</a:t>
            </a:r>
          </a:p>
        </p:txBody>
      </p:sp>
    </p:spTree>
    <p:extLst>
      <p:ext uri="{BB962C8B-B14F-4D97-AF65-F5344CB8AC3E}">
        <p14:creationId xmlns:p14="http://schemas.microsoft.com/office/powerpoint/2010/main" val="3452865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32F46F-DEC2-23EC-DC03-0916ED5CFF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E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695921036"/>
      </p:ext>
    </p:extLst>
  </p:cSld>
  <p:clrMapOvr>
    <a:masterClrMapping/>
  </p:clrMapOvr>
</p:sld>
</file>

<file path=ppt/theme/theme1.xml><?xml version="1.0" encoding="utf-8"?>
<a:theme xmlns:a="http://schemas.openxmlformats.org/drawingml/2006/main" name="nbis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bis" id="{8372F509-DB6F-E543-8446-5EF50B6225BD}" vid="{B4D41098-3F53-D546-8086-B6E892F654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nbis</Template>
  <TotalTime>7134</TotalTime>
  <Words>1613</Words>
  <Application>Microsoft Macintosh PowerPoint</Application>
  <PresentationFormat>Widescreen</PresentationFormat>
  <Paragraphs>145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-webkit-standard</vt:lpstr>
      <vt:lpstr>Adobe Arabic</vt:lpstr>
      <vt:lpstr>Calibri-Bold</vt:lpstr>
      <vt:lpstr>Andale Mono</vt:lpstr>
      <vt:lpstr>Arial</vt:lpstr>
      <vt:lpstr>Calibri</vt:lpstr>
      <vt:lpstr>Courier New</vt:lpstr>
      <vt:lpstr>Wingdings</vt:lpstr>
      <vt:lpstr>nbis</vt:lpstr>
      <vt:lpstr>Project – Main Assignment</vt:lpstr>
      <vt:lpstr>Practical information</vt:lpstr>
      <vt:lpstr>Background</vt:lpstr>
      <vt:lpstr>Genomic facts of Cystic Fibrosis</vt:lpstr>
      <vt:lpstr>More about the CFTR gene</vt:lpstr>
      <vt:lpstr>Goal of the project</vt:lpstr>
      <vt:lpstr>Data</vt:lpstr>
      <vt:lpstr>Fasta format</vt:lpstr>
      <vt:lpstr>GTF format</vt:lpstr>
      <vt:lpstr>Columns of GTF file</vt:lpstr>
      <vt:lpstr>Attribute of GTF</vt:lpstr>
      <vt:lpstr>GTF example</vt:lpstr>
      <vt:lpstr>How to get DNA sequence of a gene</vt:lpstr>
      <vt:lpstr>Getting started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assignment</dc:title>
  <dc:creator>Verena Kutschera</dc:creator>
  <cp:lastModifiedBy>Nanjiang Shu</cp:lastModifiedBy>
  <cp:revision>88</cp:revision>
  <dcterms:created xsi:type="dcterms:W3CDTF">2019-09-20T15:01:23Z</dcterms:created>
  <dcterms:modified xsi:type="dcterms:W3CDTF">2026-10-16T22:10:08Z</dcterms:modified>
</cp:coreProperties>
</file>